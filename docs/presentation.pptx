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Segment A Bold" charset="1" panose="00000800000000000000"/>
      <p:regular r:id="rId14"/>
    </p:embeddedFont>
    <p:embeddedFont>
      <p:font typeface="Playfair Display" charset="1" panose="00000000000000000000"/>
      <p:regular r:id="rId15"/>
    </p:embeddedFont>
    <p:embeddedFont>
      <p:font typeface="Playfair Display Italics" charset="1" panose="00000000000000000000"/>
      <p:regular r:id="rId16"/>
    </p:embeddedFont>
    <p:embeddedFont>
      <p:font typeface="Poppins Bold" charset="1" panose="00000800000000000000"/>
      <p:regular r:id="rId17"/>
    </p:embeddedFont>
    <p:embeddedFont>
      <p:font typeface="Poppins Semi-Bold" charset="1" panose="00000700000000000000"/>
      <p:regular r:id="rId18"/>
    </p:embeddedFont>
    <p:embeddedFont>
      <p:font typeface="Poppins Light" charset="1" panose="000004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2486" y="-10603835"/>
            <a:ext cx="17743028" cy="17743028"/>
          </a:xfrm>
          <a:custGeom>
            <a:avLst/>
            <a:gdLst/>
            <a:ahLst/>
            <a:cxnLst/>
            <a:rect r="r" b="b" t="t" l="l"/>
            <a:pathLst>
              <a:path h="17743028" w="17743028">
                <a:moveTo>
                  <a:pt x="0" y="0"/>
                </a:moveTo>
                <a:lnTo>
                  <a:pt x="17743028" y="0"/>
                </a:lnTo>
                <a:lnTo>
                  <a:pt x="17743028" y="17743027"/>
                </a:lnTo>
                <a:lnTo>
                  <a:pt x="0" y="177430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0023" y="3577384"/>
            <a:ext cx="17259300" cy="2980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0"/>
              </a:lnSpc>
            </a:pPr>
            <a:r>
              <a:rPr lang="en-US" b="true" sz="17457">
                <a:solidFill>
                  <a:srgbClr val="E4E2DD"/>
                </a:solidFill>
                <a:latin typeface="Segment A Bold"/>
                <a:ea typeface="Segment A Bold"/>
                <a:cs typeface="Segment A Bold"/>
                <a:sym typeface="Segment A Bold"/>
              </a:rPr>
              <a:t>DÉVELOPPEMENT D'APPLICATIONS COMMUNICANTES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439551" y="408662"/>
            <a:ext cx="1819749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sz="1500">
                <a:solidFill>
                  <a:srgbClr val="E4E2D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Janvier 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80087"/>
            <a:ext cx="4535997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E4E2D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https://github.com/spalexandre13/SAE302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25980" y="3924262"/>
            <a:ext cx="2836041" cy="565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8"/>
              </a:lnSpc>
            </a:pPr>
            <a:r>
              <a:rPr lang="en-US" sz="3298" i="true">
                <a:solidFill>
                  <a:srgbClr val="E4E2DD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Présentation</a:t>
            </a:r>
          </a:p>
        </p:txBody>
      </p:sp>
      <p:sp>
        <p:nvSpPr>
          <p:cNvPr name="AutoShape 7" id="7"/>
          <p:cNvSpPr/>
          <p:nvPr/>
        </p:nvSpPr>
        <p:spPr>
          <a:xfrm rot="-4034">
            <a:off x="1028706" y="1038225"/>
            <a:ext cx="16230611" cy="0"/>
          </a:xfrm>
          <a:prstGeom prst="line">
            <a:avLst/>
          </a:prstGeom>
          <a:ln cap="flat" w="19050">
            <a:solidFill>
              <a:srgbClr val="E4E2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-4034">
            <a:off x="1028706" y="9229725"/>
            <a:ext cx="16230611" cy="0"/>
          </a:xfrm>
          <a:prstGeom prst="line">
            <a:avLst/>
          </a:prstGeom>
          <a:ln cap="flat" w="19050">
            <a:solidFill>
              <a:srgbClr val="E4E2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5978137" y="7850088"/>
            <a:ext cx="1281163" cy="659217"/>
          </a:xfrm>
          <a:custGeom>
            <a:avLst/>
            <a:gdLst/>
            <a:ahLst/>
            <a:cxnLst/>
            <a:rect r="r" b="b" t="t" l="l"/>
            <a:pathLst>
              <a:path h="659217" w="1281163">
                <a:moveTo>
                  <a:pt x="0" y="0"/>
                </a:moveTo>
                <a:lnTo>
                  <a:pt x="1281163" y="0"/>
                </a:lnTo>
                <a:lnTo>
                  <a:pt x="1281163" y="659217"/>
                </a:lnTo>
                <a:lnTo>
                  <a:pt x="0" y="6592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80023" y="3581151"/>
            <a:ext cx="1281163" cy="659217"/>
          </a:xfrm>
          <a:custGeom>
            <a:avLst/>
            <a:gdLst/>
            <a:ahLst/>
            <a:cxnLst/>
            <a:rect r="r" b="b" t="t" l="l"/>
            <a:pathLst>
              <a:path h="659217" w="1281163">
                <a:moveTo>
                  <a:pt x="0" y="0"/>
                </a:moveTo>
                <a:lnTo>
                  <a:pt x="1281164" y="0"/>
                </a:lnTo>
                <a:lnTo>
                  <a:pt x="1281164" y="659217"/>
                </a:lnTo>
                <a:lnTo>
                  <a:pt x="0" y="6592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11" y="9361897"/>
            <a:ext cx="383788" cy="575682"/>
            <a:chOff x="0" y="0"/>
            <a:chExt cx="511717" cy="767576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511717"/>
              <a:ext cx="255859" cy="255859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55859" cy="255859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255859"/>
              <a:ext cx="255859" cy="255859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255859" y="511717"/>
              <a:ext cx="255859" cy="255859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4" id="24"/>
          <p:cNvSpPr txBox="true"/>
          <p:nvPr/>
        </p:nvSpPr>
        <p:spPr>
          <a:xfrm rot="0">
            <a:off x="5249062" y="7072517"/>
            <a:ext cx="7921224" cy="565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8"/>
              </a:lnSpc>
            </a:pPr>
            <a:r>
              <a:rPr lang="en-US" sz="3298" i="true">
                <a:solidFill>
                  <a:srgbClr val="E4E2DD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SAE302 Badaoui, Samperez, Cruz-Mermy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66275" y="-7272853"/>
            <a:ext cx="14755450" cy="14755450"/>
          </a:xfrm>
          <a:custGeom>
            <a:avLst/>
            <a:gdLst/>
            <a:ahLst/>
            <a:cxnLst/>
            <a:rect r="r" b="b" t="t" l="l"/>
            <a:pathLst>
              <a:path h="14755450" w="14755450">
                <a:moveTo>
                  <a:pt x="0" y="0"/>
                </a:moveTo>
                <a:lnTo>
                  <a:pt x="14755450" y="0"/>
                </a:lnTo>
                <a:lnTo>
                  <a:pt x="14755450" y="14755450"/>
                </a:lnTo>
                <a:lnTo>
                  <a:pt x="0" y="14755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191750" y="1028700"/>
            <a:ext cx="7067561" cy="9525"/>
          </a:xfrm>
          <a:prstGeom prst="line">
            <a:avLst/>
          </a:prstGeom>
          <a:ln cap="flat" w="19050">
            <a:solidFill>
              <a:srgbClr val="E4E2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-4034">
            <a:off x="1028706" y="9229725"/>
            <a:ext cx="16230611" cy="0"/>
          </a:xfrm>
          <a:prstGeom prst="line">
            <a:avLst/>
          </a:prstGeom>
          <a:ln cap="flat" w="19050">
            <a:solidFill>
              <a:srgbClr val="E4E2D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28689" y="9439275"/>
            <a:ext cx="383788" cy="575682"/>
            <a:chOff x="0" y="0"/>
            <a:chExt cx="511717" cy="76757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511717"/>
              <a:ext cx="255859" cy="255859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255859" cy="255859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255859"/>
              <a:ext cx="255859" cy="255859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55859" y="511717"/>
              <a:ext cx="255859" cy="255859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8423622" y="770484"/>
            <a:ext cx="1440757" cy="516432"/>
            <a:chOff x="0" y="0"/>
            <a:chExt cx="379459" cy="13601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9459" cy="136015"/>
            </a:xfrm>
            <a:custGeom>
              <a:avLst/>
              <a:gdLst/>
              <a:ahLst/>
              <a:cxnLst/>
              <a:rect r="r" b="b" t="t" l="l"/>
              <a:pathLst>
                <a:path h="136015" w="379459">
                  <a:moveTo>
                    <a:pt x="0" y="0"/>
                  </a:moveTo>
                  <a:lnTo>
                    <a:pt x="379459" y="0"/>
                  </a:lnTo>
                  <a:lnTo>
                    <a:pt x="379459" y="136015"/>
                  </a:lnTo>
                  <a:lnTo>
                    <a:pt x="0" y="1360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E4E2DD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379459" cy="155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0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 flipV="true">
            <a:off x="1028689" y="1028700"/>
            <a:ext cx="7394933" cy="28575"/>
          </a:xfrm>
          <a:prstGeom prst="line">
            <a:avLst/>
          </a:prstGeom>
          <a:ln cap="flat" w="19050">
            <a:solidFill>
              <a:srgbClr val="E4E2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6375262" y="1229548"/>
            <a:ext cx="5537476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E4E2DD"/>
                </a:solidFill>
                <a:latin typeface="Segment A Bold"/>
                <a:ea typeface="Segment A Bold"/>
                <a:cs typeface="Segment A Bold"/>
                <a:sym typeface="Segment A Bold"/>
              </a:rPr>
              <a:t>ARCHITECTURE GLOBALE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6089572" y="1859965"/>
            <a:ext cx="1281163" cy="659217"/>
          </a:xfrm>
          <a:custGeom>
            <a:avLst/>
            <a:gdLst/>
            <a:ahLst/>
            <a:cxnLst/>
            <a:rect r="r" b="b" t="t" l="l"/>
            <a:pathLst>
              <a:path h="659217" w="1281163">
                <a:moveTo>
                  <a:pt x="0" y="0"/>
                </a:moveTo>
                <a:lnTo>
                  <a:pt x="1281163" y="0"/>
                </a:lnTo>
                <a:lnTo>
                  <a:pt x="1281163" y="659217"/>
                </a:lnTo>
                <a:lnTo>
                  <a:pt x="0" y="6592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917325" y="1850440"/>
            <a:ext cx="1281163" cy="659217"/>
          </a:xfrm>
          <a:custGeom>
            <a:avLst/>
            <a:gdLst/>
            <a:ahLst/>
            <a:cxnLst/>
            <a:rect r="r" b="b" t="t" l="l"/>
            <a:pathLst>
              <a:path h="659217" w="1281163">
                <a:moveTo>
                  <a:pt x="0" y="0"/>
                </a:moveTo>
                <a:lnTo>
                  <a:pt x="1281163" y="0"/>
                </a:lnTo>
                <a:lnTo>
                  <a:pt x="1281163" y="659217"/>
                </a:lnTo>
                <a:lnTo>
                  <a:pt x="0" y="6592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2582892" y="4189550"/>
            <a:ext cx="917745" cy="917745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9FF21"/>
            </a:solidFill>
            <a:ln w="19050" cap="sq">
              <a:solidFill>
                <a:srgbClr val="20202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6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713677" y="4357910"/>
            <a:ext cx="656175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202020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572462" y="5670069"/>
            <a:ext cx="2938604" cy="874471"/>
            <a:chOff x="0" y="0"/>
            <a:chExt cx="937390" cy="27894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37390" cy="278949"/>
            </a:xfrm>
            <a:custGeom>
              <a:avLst/>
              <a:gdLst/>
              <a:ahLst/>
              <a:cxnLst/>
              <a:rect r="r" b="b" t="t" l="l"/>
              <a:pathLst>
                <a:path h="278949" w="937390">
                  <a:moveTo>
                    <a:pt x="0" y="0"/>
                  </a:moveTo>
                  <a:lnTo>
                    <a:pt x="937390" y="0"/>
                  </a:lnTo>
                  <a:lnTo>
                    <a:pt x="937390" y="278949"/>
                  </a:lnTo>
                  <a:lnTo>
                    <a:pt x="0" y="278949"/>
                  </a:lnTo>
                  <a:close/>
                </a:path>
              </a:pathLst>
            </a:custGeom>
            <a:solidFill>
              <a:srgbClr val="A9FF21"/>
            </a:solidFill>
            <a:ln w="19050" cap="sq">
              <a:solidFill>
                <a:srgbClr val="20202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937390" cy="345624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 marL="0" indent="0" lvl="0">
                <a:lnSpc>
                  <a:spcPts val="2646"/>
                </a:lnSpc>
                <a:spcBef>
                  <a:spcPct val="0"/>
                </a:spcBef>
              </a:pPr>
              <a:r>
                <a:rPr lang="en-US" b="true" sz="1800" spc="264">
                  <a:solidFill>
                    <a:srgbClr val="20202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KALI LINUX (JAVA + OUTILS)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flipH="true" flipV="true">
            <a:off x="3032239" y="4910360"/>
            <a:ext cx="9525" cy="759708"/>
          </a:xfrm>
          <a:prstGeom prst="line">
            <a:avLst/>
          </a:prstGeom>
          <a:ln cap="flat" w="19050">
            <a:solidFill>
              <a:srgbClr val="A9FF2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6590578" y="4189550"/>
            <a:ext cx="917745" cy="917745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9FF21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6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578627" y="5670069"/>
            <a:ext cx="2938604" cy="874471"/>
            <a:chOff x="0" y="0"/>
            <a:chExt cx="937390" cy="27894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37390" cy="278949"/>
            </a:xfrm>
            <a:custGeom>
              <a:avLst/>
              <a:gdLst/>
              <a:ahLst/>
              <a:cxnLst/>
              <a:rect r="r" b="b" t="t" l="l"/>
              <a:pathLst>
                <a:path h="278949" w="937390">
                  <a:moveTo>
                    <a:pt x="0" y="0"/>
                  </a:moveTo>
                  <a:lnTo>
                    <a:pt x="937390" y="0"/>
                  </a:lnTo>
                  <a:lnTo>
                    <a:pt x="937390" y="278949"/>
                  </a:lnTo>
                  <a:lnTo>
                    <a:pt x="0" y="2789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9FF21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937390" cy="345624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 marL="0" indent="0" lvl="0">
                <a:lnSpc>
                  <a:spcPts val="2646"/>
                </a:lnSpc>
                <a:spcBef>
                  <a:spcPct val="0"/>
                </a:spcBef>
              </a:pPr>
              <a:r>
                <a:rPr lang="en-US" b="true" sz="1800" spc="264">
                  <a:solidFill>
                    <a:srgbClr val="E4E2DD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BASE DE DONNÉES SQLITE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flipV="true">
            <a:off x="7047929" y="5107295"/>
            <a:ext cx="1521" cy="562773"/>
          </a:xfrm>
          <a:prstGeom prst="line">
            <a:avLst/>
          </a:prstGeom>
          <a:ln cap="flat" w="19050">
            <a:solidFill>
              <a:srgbClr val="A9FF2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0595221" y="4482828"/>
            <a:ext cx="917745" cy="917745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9FF21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6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584031" y="5670069"/>
            <a:ext cx="2938604" cy="874471"/>
            <a:chOff x="0" y="0"/>
            <a:chExt cx="937390" cy="27894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37390" cy="278949"/>
            </a:xfrm>
            <a:custGeom>
              <a:avLst/>
              <a:gdLst/>
              <a:ahLst/>
              <a:cxnLst/>
              <a:rect r="r" b="b" t="t" l="l"/>
              <a:pathLst>
                <a:path h="278949" w="937390">
                  <a:moveTo>
                    <a:pt x="0" y="0"/>
                  </a:moveTo>
                  <a:lnTo>
                    <a:pt x="937390" y="0"/>
                  </a:lnTo>
                  <a:lnTo>
                    <a:pt x="937390" y="278949"/>
                  </a:lnTo>
                  <a:lnTo>
                    <a:pt x="0" y="2789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9FF21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937390" cy="345624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 marL="0" indent="0" lvl="0">
                <a:lnSpc>
                  <a:spcPts val="2646"/>
                </a:lnSpc>
                <a:spcBef>
                  <a:spcPct val="0"/>
                </a:spcBef>
              </a:pPr>
              <a:r>
                <a:rPr lang="en-US" b="true" sz="1800" spc="264">
                  <a:solidFill>
                    <a:srgbClr val="E4E2DD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SERVEUR WEB &amp; API 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flipV="true">
            <a:off x="11053333" y="5400573"/>
            <a:ext cx="761" cy="269496"/>
          </a:xfrm>
          <a:prstGeom prst="line">
            <a:avLst/>
          </a:prstGeom>
          <a:ln cap="flat" w="19050">
            <a:solidFill>
              <a:srgbClr val="A9FF2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14599865" y="4189550"/>
            <a:ext cx="917745" cy="917745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9FF21"/>
            </a:solidFill>
            <a:ln w="19050" cap="sq">
              <a:solidFill>
                <a:srgbClr val="202020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6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4730650" y="4357910"/>
            <a:ext cx="656175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202020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3589435" y="5670069"/>
            <a:ext cx="2938604" cy="874471"/>
            <a:chOff x="0" y="0"/>
            <a:chExt cx="937390" cy="27894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37390" cy="278949"/>
            </a:xfrm>
            <a:custGeom>
              <a:avLst/>
              <a:gdLst/>
              <a:ahLst/>
              <a:cxnLst/>
              <a:rect r="r" b="b" t="t" l="l"/>
              <a:pathLst>
                <a:path h="278949" w="937390">
                  <a:moveTo>
                    <a:pt x="0" y="0"/>
                  </a:moveTo>
                  <a:lnTo>
                    <a:pt x="937390" y="0"/>
                  </a:lnTo>
                  <a:lnTo>
                    <a:pt x="937390" y="278949"/>
                  </a:lnTo>
                  <a:lnTo>
                    <a:pt x="0" y="278949"/>
                  </a:lnTo>
                  <a:close/>
                </a:path>
              </a:pathLst>
            </a:custGeom>
            <a:solidFill>
              <a:srgbClr val="A9FF21"/>
            </a:solidFill>
            <a:ln w="19050" cap="sq">
              <a:solidFill>
                <a:srgbClr val="202020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937390" cy="345624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 marL="0" indent="0" lvl="0">
                <a:lnSpc>
                  <a:spcPts val="2646"/>
                </a:lnSpc>
                <a:spcBef>
                  <a:spcPct val="0"/>
                </a:spcBef>
              </a:pPr>
              <a:r>
                <a:rPr lang="en-US" b="true" sz="1800" spc="264">
                  <a:solidFill>
                    <a:srgbClr val="20202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APPLICATION ANDROID</a:t>
              </a:r>
            </a:p>
          </p:txBody>
        </p:sp>
      </p:grpSp>
      <p:sp>
        <p:nvSpPr>
          <p:cNvPr name="AutoShape 54" id="54"/>
          <p:cNvSpPr/>
          <p:nvPr/>
        </p:nvSpPr>
        <p:spPr>
          <a:xfrm flipH="true" flipV="true">
            <a:off x="15049212" y="4910360"/>
            <a:ext cx="9525" cy="759708"/>
          </a:xfrm>
          <a:prstGeom prst="line">
            <a:avLst/>
          </a:prstGeom>
          <a:ln cap="flat" w="19050">
            <a:solidFill>
              <a:srgbClr val="A9FF2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 flipV="true">
            <a:off x="4567437" y="6178742"/>
            <a:ext cx="1011190" cy="0"/>
          </a:xfrm>
          <a:prstGeom prst="line">
            <a:avLst/>
          </a:prstGeom>
          <a:ln cap="flat" w="142875">
            <a:solidFill>
              <a:srgbClr val="A9FF2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6" id="56"/>
          <p:cNvSpPr/>
          <p:nvPr/>
        </p:nvSpPr>
        <p:spPr>
          <a:xfrm flipV="true">
            <a:off x="8545036" y="6250179"/>
            <a:ext cx="1011190" cy="0"/>
          </a:xfrm>
          <a:prstGeom prst="line">
            <a:avLst/>
          </a:prstGeom>
          <a:ln cap="flat" w="142875">
            <a:solidFill>
              <a:srgbClr val="A9FF2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7" id="57"/>
          <p:cNvSpPr/>
          <p:nvPr/>
        </p:nvSpPr>
        <p:spPr>
          <a:xfrm flipV="true">
            <a:off x="12551210" y="6182506"/>
            <a:ext cx="1011190" cy="0"/>
          </a:xfrm>
          <a:prstGeom prst="line">
            <a:avLst/>
          </a:prstGeom>
          <a:ln cap="flat" w="142875">
            <a:solidFill>
              <a:srgbClr val="A9FF2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58" id="58"/>
          <p:cNvSpPr/>
          <p:nvPr/>
        </p:nvSpPr>
        <p:spPr>
          <a:xfrm flipH="false" flipV="false" rot="-5400000">
            <a:off x="13224544" y="5189531"/>
            <a:ext cx="471332" cy="4114800"/>
          </a:xfrm>
          <a:custGeom>
            <a:avLst/>
            <a:gdLst/>
            <a:ahLst/>
            <a:cxnLst/>
            <a:rect r="r" b="b" t="t" l="l"/>
            <a:pathLst>
              <a:path h="4114800" w="471332">
                <a:moveTo>
                  <a:pt x="0" y="0"/>
                </a:moveTo>
                <a:lnTo>
                  <a:pt x="471331" y="0"/>
                </a:lnTo>
                <a:lnTo>
                  <a:pt x="4713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6721363" y="4357910"/>
            <a:ext cx="656175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E4E2DD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726006" y="4651188"/>
            <a:ext cx="656175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E4E2DD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28700" y="380087"/>
            <a:ext cx="4535997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E4E2D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https://github.com/spalexandre13/SAE302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1990908" y="7755170"/>
            <a:ext cx="2938604" cy="581194"/>
            <a:chOff x="0" y="0"/>
            <a:chExt cx="937390" cy="18539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37390" cy="185396"/>
            </a:xfrm>
            <a:custGeom>
              <a:avLst/>
              <a:gdLst/>
              <a:ahLst/>
              <a:cxnLst/>
              <a:rect r="r" b="b" t="t" l="l"/>
              <a:pathLst>
                <a:path h="185396" w="937390">
                  <a:moveTo>
                    <a:pt x="0" y="0"/>
                  </a:moveTo>
                  <a:lnTo>
                    <a:pt x="937390" y="0"/>
                  </a:lnTo>
                  <a:lnTo>
                    <a:pt x="937390" y="185396"/>
                  </a:lnTo>
                  <a:lnTo>
                    <a:pt x="0" y="185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9FF21"/>
              </a:solidFill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66675"/>
              <a:ext cx="937390" cy="252071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 marL="0" indent="0" lvl="0">
                <a:lnSpc>
                  <a:spcPts val="2646"/>
                </a:lnSpc>
                <a:spcBef>
                  <a:spcPct val="0"/>
                </a:spcBef>
              </a:pPr>
              <a:r>
                <a:rPr lang="en-US" b="true" sz="1800" spc="264">
                  <a:solidFill>
                    <a:srgbClr val="E4E2DD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JSON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5790" y="-9588704"/>
            <a:ext cx="17743028" cy="17743028"/>
          </a:xfrm>
          <a:custGeom>
            <a:avLst/>
            <a:gdLst/>
            <a:ahLst/>
            <a:cxnLst/>
            <a:rect r="r" b="b" t="t" l="l"/>
            <a:pathLst>
              <a:path h="17743028" w="17743028">
                <a:moveTo>
                  <a:pt x="0" y="0"/>
                </a:moveTo>
                <a:lnTo>
                  <a:pt x="17743028" y="0"/>
                </a:lnTo>
                <a:lnTo>
                  <a:pt x="17743028" y="17743027"/>
                </a:lnTo>
                <a:lnTo>
                  <a:pt x="0" y="177430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191750" y="1028700"/>
            <a:ext cx="7067561" cy="9525"/>
          </a:xfrm>
          <a:prstGeom prst="line">
            <a:avLst/>
          </a:prstGeom>
          <a:ln cap="flat" w="19050">
            <a:solidFill>
              <a:srgbClr val="E4E2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-4034">
            <a:off x="1028706" y="9229725"/>
            <a:ext cx="16230611" cy="0"/>
          </a:xfrm>
          <a:prstGeom prst="line">
            <a:avLst/>
          </a:prstGeom>
          <a:ln cap="flat" w="19050">
            <a:solidFill>
              <a:srgbClr val="E4E2D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28689" y="9439275"/>
            <a:ext cx="383788" cy="575682"/>
            <a:chOff x="0" y="0"/>
            <a:chExt cx="511717" cy="76757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511717"/>
              <a:ext cx="255859" cy="255859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255859" cy="255859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255859"/>
              <a:ext cx="255859" cy="255859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55859" y="511717"/>
              <a:ext cx="255859" cy="255859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8423622" y="770484"/>
            <a:ext cx="1440757" cy="516432"/>
            <a:chOff x="0" y="0"/>
            <a:chExt cx="379459" cy="13601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9459" cy="136015"/>
            </a:xfrm>
            <a:custGeom>
              <a:avLst/>
              <a:gdLst/>
              <a:ahLst/>
              <a:cxnLst/>
              <a:rect r="r" b="b" t="t" l="l"/>
              <a:pathLst>
                <a:path h="136015" w="379459">
                  <a:moveTo>
                    <a:pt x="0" y="0"/>
                  </a:moveTo>
                  <a:lnTo>
                    <a:pt x="379459" y="0"/>
                  </a:lnTo>
                  <a:lnTo>
                    <a:pt x="379459" y="136015"/>
                  </a:lnTo>
                  <a:lnTo>
                    <a:pt x="0" y="1360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E4E2DD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379459" cy="155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0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 flipV="true">
            <a:off x="1028689" y="1028700"/>
            <a:ext cx="7394933" cy="28575"/>
          </a:xfrm>
          <a:prstGeom prst="line">
            <a:avLst/>
          </a:prstGeom>
          <a:ln cap="flat" w="19050">
            <a:solidFill>
              <a:srgbClr val="E4E2D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9377304" y="3540947"/>
            <a:ext cx="897095" cy="874356"/>
            <a:chOff x="0" y="0"/>
            <a:chExt cx="286166" cy="27891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6166" cy="278912"/>
            </a:xfrm>
            <a:custGeom>
              <a:avLst/>
              <a:gdLst/>
              <a:ahLst/>
              <a:cxnLst/>
              <a:rect r="r" b="b" t="t" l="l"/>
              <a:pathLst>
                <a:path h="278912" w="286166">
                  <a:moveTo>
                    <a:pt x="0" y="0"/>
                  </a:moveTo>
                  <a:lnTo>
                    <a:pt x="286166" y="0"/>
                  </a:lnTo>
                  <a:lnTo>
                    <a:pt x="286166" y="278912"/>
                  </a:lnTo>
                  <a:lnTo>
                    <a:pt x="0" y="278912"/>
                  </a:lnTo>
                  <a:close/>
                </a:path>
              </a:pathLst>
            </a:custGeom>
            <a:solidFill>
              <a:srgbClr val="A9FF21"/>
            </a:solidFill>
            <a:ln w="19050" cap="sq">
              <a:solidFill>
                <a:srgbClr val="E4E2DD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286166" cy="35511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3233"/>
                </a:lnSpc>
              </a:pPr>
              <a:r>
                <a:rPr lang="en-US" b="true" sz="2199" spc="323">
                  <a:solidFill>
                    <a:srgbClr val="2020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560149" y="3540947"/>
            <a:ext cx="6667500" cy="1207846"/>
            <a:chOff x="0" y="0"/>
            <a:chExt cx="2126876" cy="38529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26876" cy="385293"/>
            </a:xfrm>
            <a:custGeom>
              <a:avLst/>
              <a:gdLst/>
              <a:ahLst/>
              <a:cxnLst/>
              <a:rect r="r" b="b" t="t" l="l"/>
              <a:pathLst>
                <a:path h="385293" w="2126876">
                  <a:moveTo>
                    <a:pt x="0" y="0"/>
                  </a:moveTo>
                  <a:lnTo>
                    <a:pt x="2126876" y="0"/>
                  </a:lnTo>
                  <a:lnTo>
                    <a:pt x="2126876" y="385293"/>
                  </a:lnTo>
                  <a:lnTo>
                    <a:pt x="0" y="3852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E4E2DD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2126876" cy="451968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 marL="0" indent="0" lvl="0">
                <a:lnSpc>
                  <a:spcPts val="2646"/>
                </a:lnSpc>
                <a:spcBef>
                  <a:spcPct val="0"/>
                </a:spcBef>
              </a:pPr>
              <a:r>
                <a:rPr lang="en-US" b="true" sz="1800" spc="264">
                  <a:solidFill>
                    <a:srgbClr val="E4E2DD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PILOTAGE SYSTÈME : UTILISATION DE PROCESSBUILDER POUR EXÉCUTER NMAP/NIKTO.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377304" y="5245094"/>
            <a:ext cx="897095" cy="874356"/>
            <a:chOff x="0" y="0"/>
            <a:chExt cx="286166" cy="27891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6166" cy="278912"/>
            </a:xfrm>
            <a:custGeom>
              <a:avLst/>
              <a:gdLst/>
              <a:ahLst/>
              <a:cxnLst/>
              <a:rect r="r" b="b" t="t" l="l"/>
              <a:pathLst>
                <a:path h="278912" w="286166">
                  <a:moveTo>
                    <a:pt x="0" y="0"/>
                  </a:moveTo>
                  <a:lnTo>
                    <a:pt x="286166" y="0"/>
                  </a:lnTo>
                  <a:lnTo>
                    <a:pt x="286166" y="278912"/>
                  </a:lnTo>
                  <a:lnTo>
                    <a:pt x="0" y="278912"/>
                  </a:lnTo>
                  <a:close/>
                </a:path>
              </a:pathLst>
            </a:custGeom>
            <a:solidFill>
              <a:srgbClr val="A9FF21"/>
            </a:solidFill>
            <a:ln w="19050" cap="sq">
              <a:solidFill>
                <a:srgbClr val="E4E2DD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76200"/>
              <a:ext cx="286166" cy="35511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 marL="0" indent="0" lvl="0">
                <a:lnSpc>
                  <a:spcPts val="3233"/>
                </a:lnSpc>
                <a:spcBef>
                  <a:spcPct val="0"/>
                </a:spcBef>
              </a:pPr>
              <a:r>
                <a:rPr lang="en-US" b="true" sz="2199" spc="323">
                  <a:solidFill>
                    <a:srgbClr val="2020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560149" y="5245094"/>
            <a:ext cx="6667500" cy="1207846"/>
            <a:chOff x="0" y="0"/>
            <a:chExt cx="2126876" cy="38529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26876" cy="385293"/>
            </a:xfrm>
            <a:custGeom>
              <a:avLst/>
              <a:gdLst/>
              <a:ahLst/>
              <a:cxnLst/>
              <a:rect r="r" b="b" t="t" l="l"/>
              <a:pathLst>
                <a:path h="385293" w="2126876">
                  <a:moveTo>
                    <a:pt x="0" y="0"/>
                  </a:moveTo>
                  <a:lnTo>
                    <a:pt x="2126876" y="0"/>
                  </a:lnTo>
                  <a:lnTo>
                    <a:pt x="2126876" y="385293"/>
                  </a:lnTo>
                  <a:lnTo>
                    <a:pt x="0" y="3852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E4E2DD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2126876" cy="451968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 marL="0" indent="0" lvl="0">
                <a:lnSpc>
                  <a:spcPts val="2646"/>
                </a:lnSpc>
                <a:spcBef>
                  <a:spcPct val="0"/>
                </a:spcBef>
              </a:pPr>
              <a:r>
                <a:rPr lang="en-US" b="true" sz="1800" spc="264">
                  <a:solidFill>
                    <a:srgbClr val="E4E2DD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PARSING INTELLIGENT : ANALYSE DU TEXTE BRUT POUR DÉTECTER LES MOTS-CLÉS ("OPEN", "CRITICAL").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408966" y="6948240"/>
            <a:ext cx="897095" cy="874356"/>
            <a:chOff x="0" y="0"/>
            <a:chExt cx="286166" cy="27891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86166" cy="278912"/>
            </a:xfrm>
            <a:custGeom>
              <a:avLst/>
              <a:gdLst/>
              <a:ahLst/>
              <a:cxnLst/>
              <a:rect r="r" b="b" t="t" l="l"/>
              <a:pathLst>
                <a:path h="278912" w="286166">
                  <a:moveTo>
                    <a:pt x="0" y="0"/>
                  </a:moveTo>
                  <a:lnTo>
                    <a:pt x="286166" y="0"/>
                  </a:lnTo>
                  <a:lnTo>
                    <a:pt x="286166" y="278912"/>
                  </a:lnTo>
                  <a:lnTo>
                    <a:pt x="0" y="278912"/>
                  </a:lnTo>
                  <a:close/>
                </a:path>
              </a:pathLst>
            </a:custGeom>
            <a:solidFill>
              <a:srgbClr val="A9FF21"/>
            </a:solidFill>
            <a:ln w="19050" cap="sq">
              <a:solidFill>
                <a:srgbClr val="E4E2DD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76200"/>
              <a:ext cx="286166" cy="35511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 marL="0" indent="0" lvl="0">
                <a:lnSpc>
                  <a:spcPts val="3233"/>
                </a:lnSpc>
                <a:spcBef>
                  <a:spcPct val="0"/>
                </a:spcBef>
              </a:pPr>
              <a:r>
                <a:rPr lang="en-US" b="true" sz="2199" spc="323">
                  <a:solidFill>
                    <a:srgbClr val="2020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591811" y="6948240"/>
            <a:ext cx="6667500" cy="874471"/>
            <a:chOff x="0" y="0"/>
            <a:chExt cx="2126876" cy="27894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26876" cy="278949"/>
            </a:xfrm>
            <a:custGeom>
              <a:avLst/>
              <a:gdLst/>
              <a:ahLst/>
              <a:cxnLst/>
              <a:rect r="r" b="b" t="t" l="l"/>
              <a:pathLst>
                <a:path h="278949" w="2126876">
                  <a:moveTo>
                    <a:pt x="0" y="0"/>
                  </a:moveTo>
                  <a:lnTo>
                    <a:pt x="2126876" y="0"/>
                  </a:lnTo>
                  <a:lnTo>
                    <a:pt x="2126876" y="278949"/>
                  </a:lnTo>
                  <a:lnTo>
                    <a:pt x="0" y="2789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E4E2DD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2126876" cy="345624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 marL="0" indent="0" lvl="0">
                <a:lnSpc>
                  <a:spcPts val="2646"/>
                </a:lnSpc>
                <a:spcBef>
                  <a:spcPct val="0"/>
                </a:spcBef>
              </a:pPr>
              <a:r>
                <a:rPr lang="en-US" b="true" sz="1800" spc="264">
                  <a:solidFill>
                    <a:srgbClr val="E4E2DD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AUTOMATISATION : STOCKAGE DIRECT EN BASE SQLITE SANS INTERVENTION HUMAINE.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28700" y="380087"/>
            <a:ext cx="4535997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E4E2D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https://github.com/spalexandre13/SAE302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626105" y="1124991"/>
            <a:ext cx="7035789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E4E2DD"/>
                </a:solidFill>
                <a:latin typeface="Segment A Bold"/>
                <a:ea typeface="Segment A Bold"/>
                <a:cs typeface="Segment A Bold"/>
                <a:sym typeface="Segment A Bold"/>
              </a:rPr>
              <a:t>LE CŒUR DU SYSTÈME : SCANNER JAVA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5094098" y="1783765"/>
            <a:ext cx="1281163" cy="659217"/>
          </a:xfrm>
          <a:custGeom>
            <a:avLst/>
            <a:gdLst/>
            <a:ahLst/>
            <a:cxnLst/>
            <a:rect r="r" b="b" t="t" l="l"/>
            <a:pathLst>
              <a:path h="659217" w="1281163">
                <a:moveTo>
                  <a:pt x="0" y="0"/>
                </a:moveTo>
                <a:lnTo>
                  <a:pt x="1281164" y="0"/>
                </a:lnTo>
                <a:lnTo>
                  <a:pt x="1281164" y="659217"/>
                </a:lnTo>
                <a:lnTo>
                  <a:pt x="0" y="6592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2021313" y="1783765"/>
            <a:ext cx="1281163" cy="659217"/>
          </a:xfrm>
          <a:custGeom>
            <a:avLst/>
            <a:gdLst/>
            <a:ahLst/>
            <a:cxnLst/>
            <a:rect r="r" b="b" t="t" l="l"/>
            <a:pathLst>
              <a:path h="659217" w="1281163">
                <a:moveTo>
                  <a:pt x="0" y="0"/>
                </a:moveTo>
                <a:lnTo>
                  <a:pt x="1281163" y="0"/>
                </a:lnTo>
                <a:lnTo>
                  <a:pt x="1281163" y="659217"/>
                </a:lnTo>
                <a:lnTo>
                  <a:pt x="0" y="6592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028711" y="2883940"/>
            <a:ext cx="6368563" cy="5906445"/>
          </a:xfrm>
          <a:custGeom>
            <a:avLst/>
            <a:gdLst/>
            <a:ahLst/>
            <a:cxnLst/>
            <a:rect r="r" b="b" t="t" l="l"/>
            <a:pathLst>
              <a:path h="5906445" w="6368563">
                <a:moveTo>
                  <a:pt x="0" y="0"/>
                </a:moveTo>
                <a:lnTo>
                  <a:pt x="6368563" y="0"/>
                </a:lnTo>
                <a:lnTo>
                  <a:pt x="6368563" y="5906445"/>
                </a:lnTo>
                <a:lnTo>
                  <a:pt x="0" y="59064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28575" cap="sq">
            <a:solidFill>
              <a:srgbClr val="A9FF21"/>
            </a:solidFill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2486" y="-10603835"/>
            <a:ext cx="17743028" cy="17743028"/>
          </a:xfrm>
          <a:custGeom>
            <a:avLst/>
            <a:gdLst/>
            <a:ahLst/>
            <a:cxnLst/>
            <a:rect r="r" b="b" t="t" l="l"/>
            <a:pathLst>
              <a:path h="17743028" w="17743028">
                <a:moveTo>
                  <a:pt x="0" y="0"/>
                </a:moveTo>
                <a:lnTo>
                  <a:pt x="17743028" y="0"/>
                </a:lnTo>
                <a:lnTo>
                  <a:pt x="17743028" y="17743027"/>
                </a:lnTo>
                <a:lnTo>
                  <a:pt x="0" y="177430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191750" y="1028700"/>
            <a:ext cx="7067561" cy="9525"/>
          </a:xfrm>
          <a:prstGeom prst="line">
            <a:avLst/>
          </a:prstGeom>
          <a:ln cap="flat" w="19050">
            <a:solidFill>
              <a:srgbClr val="E4E2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-4034">
            <a:off x="1028706" y="9229725"/>
            <a:ext cx="16230611" cy="0"/>
          </a:xfrm>
          <a:prstGeom prst="line">
            <a:avLst/>
          </a:prstGeom>
          <a:ln cap="flat" w="19050">
            <a:solidFill>
              <a:srgbClr val="E4E2D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28689" y="9439275"/>
            <a:ext cx="383788" cy="575682"/>
            <a:chOff x="0" y="0"/>
            <a:chExt cx="511717" cy="76757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511717"/>
              <a:ext cx="255859" cy="255859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255859" cy="255859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255859"/>
              <a:ext cx="255859" cy="255859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55859" y="511717"/>
              <a:ext cx="255859" cy="255859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8423622" y="770484"/>
            <a:ext cx="1440757" cy="516432"/>
            <a:chOff x="0" y="0"/>
            <a:chExt cx="379459" cy="13601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9459" cy="136015"/>
            </a:xfrm>
            <a:custGeom>
              <a:avLst/>
              <a:gdLst/>
              <a:ahLst/>
              <a:cxnLst/>
              <a:rect r="r" b="b" t="t" l="l"/>
              <a:pathLst>
                <a:path h="136015" w="379459">
                  <a:moveTo>
                    <a:pt x="0" y="0"/>
                  </a:moveTo>
                  <a:lnTo>
                    <a:pt x="379459" y="0"/>
                  </a:lnTo>
                  <a:lnTo>
                    <a:pt x="379459" y="136015"/>
                  </a:lnTo>
                  <a:lnTo>
                    <a:pt x="0" y="1360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E4E2DD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379459" cy="155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0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 flipV="true">
            <a:off x="1028689" y="1028700"/>
            <a:ext cx="7394933" cy="28575"/>
          </a:xfrm>
          <a:prstGeom prst="line">
            <a:avLst/>
          </a:prstGeom>
          <a:ln cap="flat" w="19050">
            <a:solidFill>
              <a:srgbClr val="E4E2D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0102988" y="3185932"/>
            <a:ext cx="6667500" cy="874356"/>
            <a:chOff x="0" y="0"/>
            <a:chExt cx="2126876" cy="27891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26876" cy="278912"/>
            </a:xfrm>
            <a:custGeom>
              <a:avLst/>
              <a:gdLst/>
              <a:ahLst/>
              <a:cxnLst/>
              <a:rect r="r" b="b" t="t" l="l"/>
              <a:pathLst>
                <a:path h="278912" w="2126876">
                  <a:moveTo>
                    <a:pt x="0" y="0"/>
                  </a:moveTo>
                  <a:lnTo>
                    <a:pt x="2126876" y="0"/>
                  </a:lnTo>
                  <a:lnTo>
                    <a:pt x="2126876" y="278912"/>
                  </a:lnTo>
                  <a:lnTo>
                    <a:pt x="0" y="2789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9FF21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2126876" cy="345587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 marL="0" indent="0" lvl="0">
                <a:lnSpc>
                  <a:spcPts val="2646"/>
                </a:lnSpc>
                <a:spcBef>
                  <a:spcPct val="0"/>
                </a:spcBef>
              </a:pPr>
              <a:r>
                <a:rPr lang="en-US" b="true" sz="1800" spc="264">
                  <a:solidFill>
                    <a:srgbClr val="E4E2DD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RÔLE PIVOT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4851322" y="1859965"/>
            <a:ext cx="1281163" cy="659217"/>
          </a:xfrm>
          <a:custGeom>
            <a:avLst/>
            <a:gdLst/>
            <a:ahLst/>
            <a:cxnLst/>
            <a:rect r="r" b="b" t="t" l="l"/>
            <a:pathLst>
              <a:path h="659217" w="1281163">
                <a:moveTo>
                  <a:pt x="0" y="0"/>
                </a:moveTo>
                <a:lnTo>
                  <a:pt x="1281163" y="0"/>
                </a:lnTo>
                <a:lnTo>
                  <a:pt x="1281163" y="659217"/>
                </a:lnTo>
                <a:lnTo>
                  <a:pt x="0" y="6592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155575" y="1850440"/>
            <a:ext cx="1281163" cy="659217"/>
          </a:xfrm>
          <a:custGeom>
            <a:avLst/>
            <a:gdLst/>
            <a:ahLst/>
            <a:cxnLst/>
            <a:rect r="r" b="b" t="t" l="l"/>
            <a:pathLst>
              <a:path h="659217" w="1281163">
                <a:moveTo>
                  <a:pt x="0" y="0"/>
                </a:moveTo>
                <a:lnTo>
                  <a:pt x="1281163" y="0"/>
                </a:lnTo>
                <a:lnTo>
                  <a:pt x="1281163" y="659217"/>
                </a:lnTo>
                <a:lnTo>
                  <a:pt x="0" y="6592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0102988" y="5432513"/>
            <a:ext cx="6667500" cy="874356"/>
            <a:chOff x="0" y="0"/>
            <a:chExt cx="2126876" cy="27891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26876" cy="278912"/>
            </a:xfrm>
            <a:custGeom>
              <a:avLst/>
              <a:gdLst/>
              <a:ahLst/>
              <a:cxnLst/>
              <a:rect r="r" b="b" t="t" l="l"/>
              <a:pathLst>
                <a:path h="278912" w="2126876">
                  <a:moveTo>
                    <a:pt x="0" y="0"/>
                  </a:moveTo>
                  <a:lnTo>
                    <a:pt x="2126876" y="0"/>
                  </a:lnTo>
                  <a:lnTo>
                    <a:pt x="2126876" y="278912"/>
                  </a:lnTo>
                  <a:lnTo>
                    <a:pt x="0" y="2789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9FF21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2126876" cy="345587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 marL="0" indent="0" lvl="0">
                <a:lnSpc>
                  <a:spcPts val="2646"/>
                </a:lnSpc>
                <a:spcBef>
                  <a:spcPct val="0"/>
                </a:spcBef>
              </a:pPr>
              <a:r>
                <a:rPr lang="en-US" b="true" sz="1800" spc="264">
                  <a:solidFill>
                    <a:srgbClr val="E4E2DD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FORMAT JSON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223247" y="3233557"/>
            <a:ext cx="9383800" cy="2073892"/>
          </a:xfrm>
          <a:custGeom>
            <a:avLst/>
            <a:gdLst/>
            <a:ahLst/>
            <a:cxnLst/>
            <a:rect r="r" b="b" t="t" l="l"/>
            <a:pathLst>
              <a:path h="2073892" w="9383800">
                <a:moveTo>
                  <a:pt x="0" y="0"/>
                </a:moveTo>
                <a:lnTo>
                  <a:pt x="9383800" y="0"/>
                </a:lnTo>
                <a:lnTo>
                  <a:pt x="9383800" y="2073892"/>
                </a:lnTo>
                <a:lnTo>
                  <a:pt x="0" y="20738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97" t="0" r="-1697" b="0"/>
            </a:stretch>
          </a:blipFill>
          <a:ln w="38100" cap="sq">
            <a:solidFill>
              <a:srgbClr val="A9FF21"/>
            </a:solidFill>
            <a:prstDash val="solid"/>
            <a:miter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613363" y="5810844"/>
            <a:ext cx="8603569" cy="2513070"/>
          </a:xfrm>
          <a:custGeom>
            <a:avLst/>
            <a:gdLst/>
            <a:ahLst/>
            <a:cxnLst/>
            <a:rect r="r" b="b" t="t" l="l"/>
            <a:pathLst>
              <a:path h="2513070" w="8603569">
                <a:moveTo>
                  <a:pt x="0" y="0"/>
                </a:moveTo>
                <a:lnTo>
                  <a:pt x="8603569" y="0"/>
                </a:lnTo>
                <a:lnTo>
                  <a:pt x="8603569" y="2513070"/>
                </a:lnTo>
                <a:lnTo>
                  <a:pt x="0" y="25130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38100" cap="sq">
            <a:solidFill>
              <a:srgbClr val="A9FF21"/>
            </a:solidFill>
            <a:prstDash val="solid"/>
            <a:miter/>
          </a:ln>
        </p:spPr>
      </p:sp>
      <p:sp>
        <p:nvSpPr>
          <p:cNvPr name="TextBox 32" id="32"/>
          <p:cNvSpPr txBox="true"/>
          <p:nvPr/>
        </p:nvSpPr>
        <p:spPr>
          <a:xfrm rot="0">
            <a:off x="1028700" y="380087"/>
            <a:ext cx="4535997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E4E2D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https://github.com/spalexandre13/SAE302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102988" y="4277995"/>
            <a:ext cx="6667500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E4E2DD"/>
                </a:solidFill>
                <a:latin typeface="Poppins Light"/>
                <a:ea typeface="Poppins Light"/>
                <a:cs typeface="Poppins Light"/>
                <a:sym typeface="Poppins Light"/>
              </a:rPr>
              <a:t>Le script PHP expose les données de la base SQLite sur le réseau HTTP.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102988" y="6579758"/>
            <a:ext cx="6667500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E4E2DD"/>
                </a:solidFill>
                <a:latin typeface="Poppins Light"/>
                <a:ea typeface="Poppins Light"/>
                <a:cs typeface="Poppins Light"/>
                <a:sym typeface="Poppins Light"/>
              </a:rPr>
              <a:t>Standardisation des données pour qu'elles soient lisibles par n'importe quel client (Android, iOS, Web).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375292" y="1141233"/>
            <a:ext cx="5537476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E4E2DD"/>
                </a:solidFill>
                <a:latin typeface="Segment A Bold"/>
                <a:ea typeface="Segment A Bold"/>
                <a:cs typeface="Segment A Bold"/>
                <a:sym typeface="Segment A Bold"/>
              </a:rPr>
              <a:t> LA PASSERELLE : API &amp; WEB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4972" y="-10491643"/>
            <a:ext cx="17743028" cy="17743028"/>
          </a:xfrm>
          <a:custGeom>
            <a:avLst/>
            <a:gdLst/>
            <a:ahLst/>
            <a:cxnLst/>
            <a:rect r="r" b="b" t="t" l="l"/>
            <a:pathLst>
              <a:path h="17743028" w="17743028">
                <a:moveTo>
                  <a:pt x="0" y="0"/>
                </a:moveTo>
                <a:lnTo>
                  <a:pt x="17743028" y="0"/>
                </a:lnTo>
                <a:lnTo>
                  <a:pt x="17743028" y="17743028"/>
                </a:lnTo>
                <a:lnTo>
                  <a:pt x="0" y="17743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191750" y="1028700"/>
            <a:ext cx="7067561" cy="9525"/>
          </a:xfrm>
          <a:prstGeom prst="line">
            <a:avLst/>
          </a:prstGeom>
          <a:ln cap="flat" w="19050">
            <a:solidFill>
              <a:srgbClr val="E4E2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-4034">
            <a:off x="1028706" y="9229725"/>
            <a:ext cx="16230611" cy="0"/>
          </a:xfrm>
          <a:prstGeom prst="line">
            <a:avLst/>
          </a:prstGeom>
          <a:ln cap="flat" w="19050">
            <a:solidFill>
              <a:srgbClr val="E4E2D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28689" y="9439275"/>
            <a:ext cx="383788" cy="575682"/>
            <a:chOff x="0" y="0"/>
            <a:chExt cx="511717" cy="76757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511717"/>
              <a:ext cx="255859" cy="255859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255859" cy="255859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255859"/>
              <a:ext cx="255859" cy="255859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55859" y="511717"/>
              <a:ext cx="255859" cy="255859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8423622" y="770484"/>
            <a:ext cx="1440757" cy="516432"/>
            <a:chOff x="0" y="0"/>
            <a:chExt cx="379459" cy="13601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9459" cy="136015"/>
            </a:xfrm>
            <a:custGeom>
              <a:avLst/>
              <a:gdLst/>
              <a:ahLst/>
              <a:cxnLst/>
              <a:rect r="r" b="b" t="t" l="l"/>
              <a:pathLst>
                <a:path h="136015" w="379459">
                  <a:moveTo>
                    <a:pt x="0" y="0"/>
                  </a:moveTo>
                  <a:lnTo>
                    <a:pt x="379459" y="0"/>
                  </a:lnTo>
                  <a:lnTo>
                    <a:pt x="379459" y="136015"/>
                  </a:lnTo>
                  <a:lnTo>
                    <a:pt x="0" y="1360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E4E2DD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379459" cy="155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0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 flipV="true">
            <a:off x="1028689" y="1028700"/>
            <a:ext cx="7394933" cy="28575"/>
          </a:xfrm>
          <a:prstGeom prst="line">
            <a:avLst/>
          </a:prstGeom>
          <a:ln cap="flat" w="19050">
            <a:solidFill>
              <a:srgbClr val="E4E2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6375262" y="1229548"/>
            <a:ext cx="5537476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E4E2DD"/>
                </a:solidFill>
                <a:latin typeface="Segment A Bold"/>
                <a:ea typeface="Segment A Bold"/>
                <a:cs typeface="Segment A Bold"/>
                <a:sym typeface="Segment A Bold"/>
              </a:rPr>
              <a:t>L'INTERFACE MOBILE (ANDROID)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4924116" y="1816660"/>
            <a:ext cx="1281163" cy="659217"/>
          </a:xfrm>
          <a:custGeom>
            <a:avLst/>
            <a:gdLst/>
            <a:ahLst/>
            <a:cxnLst/>
            <a:rect r="r" b="b" t="t" l="l"/>
            <a:pathLst>
              <a:path h="659217" w="1281163">
                <a:moveTo>
                  <a:pt x="0" y="0"/>
                </a:moveTo>
                <a:lnTo>
                  <a:pt x="1281163" y="0"/>
                </a:lnTo>
                <a:lnTo>
                  <a:pt x="1281163" y="659217"/>
                </a:lnTo>
                <a:lnTo>
                  <a:pt x="0" y="6592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477016" y="1816660"/>
            <a:ext cx="1281163" cy="659217"/>
          </a:xfrm>
          <a:custGeom>
            <a:avLst/>
            <a:gdLst/>
            <a:ahLst/>
            <a:cxnLst/>
            <a:rect r="r" b="b" t="t" l="l"/>
            <a:pathLst>
              <a:path h="659217" w="1281163">
                <a:moveTo>
                  <a:pt x="0" y="0"/>
                </a:moveTo>
                <a:lnTo>
                  <a:pt x="1281163" y="0"/>
                </a:lnTo>
                <a:lnTo>
                  <a:pt x="1281163" y="659217"/>
                </a:lnTo>
                <a:lnTo>
                  <a:pt x="0" y="6592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481621" y="2829339"/>
            <a:ext cx="3392738" cy="6279469"/>
          </a:xfrm>
          <a:custGeom>
            <a:avLst/>
            <a:gdLst/>
            <a:ahLst/>
            <a:cxnLst/>
            <a:rect r="r" b="b" t="t" l="l"/>
            <a:pathLst>
              <a:path h="6279469" w="3392738">
                <a:moveTo>
                  <a:pt x="0" y="0"/>
                </a:moveTo>
                <a:lnTo>
                  <a:pt x="3392739" y="0"/>
                </a:lnTo>
                <a:lnTo>
                  <a:pt x="3392739" y="6279470"/>
                </a:lnTo>
                <a:lnTo>
                  <a:pt x="0" y="62794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solidFill>
              <a:srgbClr val="A9FF21"/>
            </a:solidFill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9144000" y="2829339"/>
            <a:ext cx="3333016" cy="6346318"/>
          </a:xfrm>
          <a:custGeom>
            <a:avLst/>
            <a:gdLst/>
            <a:ahLst/>
            <a:cxnLst/>
            <a:rect r="r" b="b" t="t" l="l"/>
            <a:pathLst>
              <a:path h="6346318" w="3333016">
                <a:moveTo>
                  <a:pt x="0" y="0"/>
                </a:moveTo>
                <a:lnTo>
                  <a:pt x="3333016" y="0"/>
                </a:lnTo>
                <a:lnTo>
                  <a:pt x="3333016" y="6346318"/>
                </a:lnTo>
                <a:lnTo>
                  <a:pt x="0" y="63463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38100" cap="sq">
            <a:solidFill>
              <a:srgbClr val="A9FF21"/>
            </a:solidFill>
            <a:prstDash val="solid"/>
            <a:miter/>
          </a:ln>
        </p:spPr>
      </p:sp>
      <p:grpSp>
        <p:nvGrpSpPr>
          <p:cNvPr name="Group 27" id="27"/>
          <p:cNvGrpSpPr/>
          <p:nvPr/>
        </p:nvGrpSpPr>
        <p:grpSpPr>
          <a:xfrm rot="0">
            <a:off x="702957" y="2829339"/>
            <a:ext cx="6667500" cy="874356"/>
            <a:chOff x="0" y="0"/>
            <a:chExt cx="2126876" cy="27891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26876" cy="278912"/>
            </a:xfrm>
            <a:custGeom>
              <a:avLst/>
              <a:gdLst/>
              <a:ahLst/>
              <a:cxnLst/>
              <a:rect r="r" b="b" t="t" l="l"/>
              <a:pathLst>
                <a:path h="278912" w="2126876">
                  <a:moveTo>
                    <a:pt x="0" y="0"/>
                  </a:moveTo>
                  <a:lnTo>
                    <a:pt x="2126876" y="0"/>
                  </a:lnTo>
                  <a:lnTo>
                    <a:pt x="2126876" y="278912"/>
                  </a:lnTo>
                  <a:lnTo>
                    <a:pt x="0" y="278912"/>
                  </a:lnTo>
                  <a:close/>
                </a:path>
              </a:pathLst>
            </a:custGeom>
            <a:solidFill>
              <a:srgbClr val="A9FF21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2126876" cy="345587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 marL="0" indent="0" lvl="0">
                <a:lnSpc>
                  <a:spcPts val="2646"/>
                </a:lnSpc>
                <a:spcBef>
                  <a:spcPct val="0"/>
                </a:spcBef>
              </a:pPr>
              <a:r>
                <a:rPr lang="en-US" b="true" sz="1800" spc="264">
                  <a:solidFill>
                    <a:srgbClr val="20202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1. COMMUNICATION RÉSEAU (RETROFIT)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702957" y="3979920"/>
            <a:ext cx="6667500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E4E2DD"/>
                </a:solidFill>
                <a:latin typeface="Poppins Light"/>
                <a:ea typeface="Poppins Light"/>
                <a:cs typeface="Poppins Light"/>
                <a:sym typeface="Poppins Light"/>
              </a:rPr>
              <a:t>Utilisation de la librairie Retrofit pour consommer l'API JSON avec l’ip du serveur web.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02957" y="4815860"/>
            <a:ext cx="6667500" cy="874356"/>
            <a:chOff x="0" y="0"/>
            <a:chExt cx="2126876" cy="27891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26876" cy="278912"/>
            </a:xfrm>
            <a:custGeom>
              <a:avLst/>
              <a:gdLst/>
              <a:ahLst/>
              <a:cxnLst/>
              <a:rect r="r" b="b" t="t" l="l"/>
              <a:pathLst>
                <a:path h="278912" w="2126876">
                  <a:moveTo>
                    <a:pt x="0" y="0"/>
                  </a:moveTo>
                  <a:lnTo>
                    <a:pt x="2126876" y="0"/>
                  </a:lnTo>
                  <a:lnTo>
                    <a:pt x="2126876" y="278912"/>
                  </a:lnTo>
                  <a:lnTo>
                    <a:pt x="0" y="2789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9FF21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2126876" cy="345587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 marL="0" indent="0" lvl="0">
                <a:lnSpc>
                  <a:spcPts val="2646"/>
                </a:lnSpc>
                <a:spcBef>
                  <a:spcPct val="0"/>
                </a:spcBef>
              </a:pPr>
              <a:r>
                <a:rPr lang="en-US" b="true" sz="1800" spc="264">
                  <a:solidFill>
                    <a:srgbClr val="E4E2DD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AFFICHAGE OPTIMISÉ (RECYCLERVIEW)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702957" y="6023590"/>
            <a:ext cx="6667500" cy="111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E4E2DD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Implémentation du pattern Adapter &amp; ViewHolder via des RecyclerView. Cela permet d'afficher des listes de centaines de failles de manière fluide sans consommer toute la mémoire du téléphone.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380087"/>
            <a:ext cx="4535997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E4E2D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https://github.com/spalexandre13/SAE302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894815"/>
            <a:ext cx="17743028" cy="17743028"/>
          </a:xfrm>
          <a:custGeom>
            <a:avLst/>
            <a:gdLst/>
            <a:ahLst/>
            <a:cxnLst/>
            <a:rect r="r" b="b" t="t" l="l"/>
            <a:pathLst>
              <a:path h="17743028" w="17743028">
                <a:moveTo>
                  <a:pt x="0" y="0"/>
                </a:moveTo>
                <a:lnTo>
                  <a:pt x="17743028" y="0"/>
                </a:lnTo>
                <a:lnTo>
                  <a:pt x="17743028" y="17743028"/>
                </a:lnTo>
                <a:lnTo>
                  <a:pt x="0" y="17743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191750" y="1028700"/>
            <a:ext cx="7067561" cy="9525"/>
          </a:xfrm>
          <a:prstGeom prst="line">
            <a:avLst/>
          </a:prstGeom>
          <a:ln cap="flat" w="19050">
            <a:solidFill>
              <a:srgbClr val="E4E2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-4034">
            <a:off x="1028706" y="9229725"/>
            <a:ext cx="16230611" cy="0"/>
          </a:xfrm>
          <a:prstGeom prst="line">
            <a:avLst/>
          </a:prstGeom>
          <a:ln cap="flat" w="19050">
            <a:solidFill>
              <a:srgbClr val="E4E2D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28689" y="9439275"/>
            <a:ext cx="383788" cy="575682"/>
            <a:chOff x="0" y="0"/>
            <a:chExt cx="511717" cy="76757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511717"/>
              <a:ext cx="255859" cy="255859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255859" cy="255859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255859"/>
              <a:ext cx="255859" cy="255859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55859" y="511717"/>
              <a:ext cx="255859" cy="255859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8423622" y="770484"/>
            <a:ext cx="1440757" cy="516432"/>
            <a:chOff x="0" y="0"/>
            <a:chExt cx="379459" cy="13601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9459" cy="136015"/>
            </a:xfrm>
            <a:custGeom>
              <a:avLst/>
              <a:gdLst/>
              <a:ahLst/>
              <a:cxnLst/>
              <a:rect r="r" b="b" t="t" l="l"/>
              <a:pathLst>
                <a:path h="136015" w="379459">
                  <a:moveTo>
                    <a:pt x="0" y="0"/>
                  </a:moveTo>
                  <a:lnTo>
                    <a:pt x="379459" y="0"/>
                  </a:lnTo>
                  <a:lnTo>
                    <a:pt x="379459" y="136015"/>
                  </a:lnTo>
                  <a:lnTo>
                    <a:pt x="0" y="1360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E4E2DD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379459" cy="155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0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 flipV="true">
            <a:off x="1028689" y="1028700"/>
            <a:ext cx="7394933" cy="28575"/>
          </a:xfrm>
          <a:prstGeom prst="line">
            <a:avLst/>
          </a:prstGeom>
          <a:ln cap="flat" w="19050">
            <a:solidFill>
              <a:srgbClr val="E4E2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6375262" y="1229548"/>
            <a:ext cx="5537476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E4E2DD"/>
                </a:solidFill>
                <a:latin typeface="Segment A Bold"/>
                <a:ea typeface="Segment A Bold"/>
                <a:cs typeface="Segment A Bold"/>
                <a:sym typeface="Segment A Bold"/>
              </a:rPr>
              <a:t>ORGANISATION &amp; RÉPARTITION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5396990" y="1812864"/>
            <a:ext cx="1281163" cy="659217"/>
          </a:xfrm>
          <a:custGeom>
            <a:avLst/>
            <a:gdLst/>
            <a:ahLst/>
            <a:cxnLst/>
            <a:rect r="r" b="b" t="t" l="l"/>
            <a:pathLst>
              <a:path h="659217" w="1281163">
                <a:moveTo>
                  <a:pt x="0" y="0"/>
                </a:moveTo>
                <a:lnTo>
                  <a:pt x="1281163" y="0"/>
                </a:lnTo>
                <a:lnTo>
                  <a:pt x="1281163" y="659217"/>
                </a:lnTo>
                <a:lnTo>
                  <a:pt x="0" y="6592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650482" y="1885036"/>
            <a:ext cx="1281163" cy="659217"/>
          </a:xfrm>
          <a:custGeom>
            <a:avLst/>
            <a:gdLst/>
            <a:ahLst/>
            <a:cxnLst/>
            <a:rect r="r" b="b" t="t" l="l"/>
            <a:pathLst>
              <a:path h="659217" w="1281163">
                <a:moveTo>
                  <a:pt x="0" y="0"/>
                </a:moveTo>
                <a:lnTo>
                  <a:pt x="1281163" y="0"/>
                </a:lnTo>
                <a:lnTo>
                  <a:pt x="1281163" y="659216"/>
                </a:lnTo>
                <a:lnTo>
                  <a:pt x="0" y="6592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2553029" y="1447800"/>
            <a:ext cx="1487339" cy="874471"/>
            <a:chOff x="0" y="0"/>
            <a:chExt cx="474449" cy="27894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74449" cy="278949"/>
            </a:xfrm>
            <a:custGeom>
              <a:avLst/>
              <a:gdLst/>
              <a:ahLst/>
              <a:cxnLst/>
              <a:rect r="r" b="b" t="t" l="l"/>
              <a:pathLst>
                <a:path h="278949" w="474449">
                  <a:moveTo>
                    <a:pt x="0" y="0"/>
                  </a:moveTo>
                  <a:lnTo>
                    <a:pt x="474449" y="0"/>
                  </a:lnTo>
                  <a:lnTo>
                    <a:pt x="474449" y="278949"/>
                  </a:lnTo>
                  <a:lnTo>
                    <a:pt x="0" y="278949"/>
                  </a:lnTo>
                  <a:close/>
                </a:path>
              </a:pathLst>
            </a:custGeom>
            <a:solidFill>
              <a:srgbClr val="A9FF21"/>
            </a:solidFill>
            <a:ln w="19050" cap="sq">
              <a:solidFill>
                <a:srgbClr val="E4E2DD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76200"/>
              <a:ext cx="474449" cy="355149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 marL="0" indent="0" lvl="0">
                <a:lnSpc>
                  <a:spcPts val="3233"/>
                </a:lnSpc>
                <a:spcBef>
                  <a:spcPct val="0"/>
                </a:spcBef>
              </a:pPr>
              <a:r>
                <a:rPr lang="en-US" b="true" sz="2199" spc="323">
                  <a:solidFill>
                    <a:srgbClr val="2020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WALID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55826" y="2605431"/>
            <a:ext cx="5481745" cy="1235504"/>
            <a:chOff x="0" y="0"/>
            <a:chExt cx="1748630" cy="39411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48630" cy="394115"/>
            </a:xfrm>
            <a:custGeom>
              <a:avLst/>
              <a:gdLst/>
              <a:ahLst/>
              <a:cxnLst/>
              <a:rect r="r" b="b" t="t" l="l"/>
              <a:pathLst>
                <a:path h="394115" w="1748630">
                  <a:moveTo>
                    <a:pt x="0" y="0"/>
                  </a:moveTo>
                  <a:lnTo>
                    <a:pt x="1748630" y="0"/>
                  </a:lnTo>
                  <a:lnTo>
                    <a:pt x="1748630" y="394115"/>
                  </a:lnTo>
                  <a:lnTo>
                    <a:pt x="0" y="3941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E4E2DD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748630" cy="460790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 marL="0" indent="0" lvl="0">
                <a:lnSpc>
                  <a:spcPts val="2646"/>
                </a:lnSpc>
                <a:spcBef>
                  <a:spcPct val="0"/>
                </a:spcBef>
              </a:pPr>
              <a:r>
                <a:rPr lang="en-US" b="true" sz="1800" spc="264">
                  <a:solidFill>
                    <a:srgbClr val="E4E2DD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RESPONSABLE DE TOUT LE BLOC BACKEND/SYSTÈME (JAVA ET LA CRÉATION DE LA BDD)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155749" y="4221935"/>
            <a:ext cx="2281899" cy="874471"/>
            <a:chOff x="0" y="0"/>
            <a:chExt cx="727906" cy="27894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27906" cy="278949"/>
            </a:xfrm>
            <a:custGeom>
              <a:avLst/>
              <a:gdLst/>
              <a:ahLst/>
              <a:cxnLst/>
              <a:rect r="r" b="b" t="t" l="l"/>
              <a:pathLst>
                <a:path h="278949" w="727906">
                  <a:moveTo>
                    <a:pt x="0" y="0"/>
                  </a:moveTo>
                  <a:lnTo>
                    <a:pt x="727906" y="0"/>
                  </a:lnTo>
                  <a:lnTo>
                    <a:pt x="727906" y="278949"/>
                  </a:lnTo>
                  <a:lnTo>
                    <a:pt x="0" y="278949"/>
                  </a:lnTo>
                  <a:close/>
                </a:path>
              </a:pathLst>
            </a:custGeom>
            <a:solidFill>
              <a:srgbClr val="A9FF21"/>
            </a:solidFill>
            <a:ln w="19050" cap="sq">
              <a:solidFill>
                <a:srgbClr val="E4E2DD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76200"/>
              <a:ext cx="727906" cy="355149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 marL="0" indent="0" lvl="0">
                <a:lnSpc>
                  <a:spcPts val="3233"/>
                </a:lnSpc>
                <a:spcBef>
                  <a:spcPct val="0"/>
                </a:spcBef>
              </a:pPr>
              <a:r>
                <a:rPr lang="en-US" b="true" sz="2199" spc="323">
                  <a:solidFill>
                    <a:srgbClr val="2020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ALEXANDRE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55826" y="5382156"/>
            <a:ext cx="5481745" cy="1235504"/>
            <a:chOff x="0" y="0"/>
            <a:chExt cx="1748630" cy="39411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48630" cy="394115"/>
            </a:xfrm>
            <a:custGeom>
              <a:avLst/>
              <a:gdLst/>
              <a:ahLst/>
              <a:cxnLst/>
              <a:rect r="r" b="b" t="t" l="l"/>
              <a:pathLst>
                <a:path h="394115" w="1748630">
                  <a:moveTo>
                    <a:pt x="0" y="0"/>
                  </a:moveTo>
                  <a:lnTo>
                    <a:pt x="1748630" y="0"/>
                  </a:lnTo>
                  <a:lnTo>
                    <a:pt x="1748630" y="394115"/>
                  </a:lnTo>
                  <a:lnTo>
                    <a:pt x="0" y="3941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E4E2DD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1748630" cy="460790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 marL="0" indent="0" lvl="0">
                <a:lnSpc>
                  <a:spcPts val="2646"/>
                </a:lnSpc>
                <a:spcBef>
                  <a:spcPct val="0"/>
                </a:spcBef>
              </a:pPr>
              <a:r>
                <a:rPr lang="en-US" b="true" sz="1800" spc="264">
                  <a:solidFill>
                    <a:srgbClr val="E4E2DD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 SUR LA COUCHE INTERMÉDIAIRE (LE SERVEUR WEB ET L'API QUI EXPOSE CETTE BDD)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155749" y="6903410"/>
            <a:ext cx="2281899" cy="874471"/>
            <a:chOff x="0" y="0"/>
            <a:chExt cx="727906" cy="27894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27906" cy="278949"/>
            </a:xfrm>
            <a:custGeom>
              <a:avLst/>
              <a:gdLst/>
              <a:ahLst/>
              <a:cxnLst/>
              <a:rect r="r" b="b" t="t" l="l"/>
              <a:pathLst>
                <a:path h="278949" w="727906">
                  <a:moveTo>
                    <a:pt x="0" y="0"/>
                  </a:moveTo>
                  <a:lnTo>
                    <a:pt x="727906" y="0"/>
                  </a:lnTo>
                  <a:lnTo>
                    <a:pt x="727906" y="278949"/>
                  </a:lnTo>
                  <a:lnTo>
                    <a:pt x="0" y="278949"/>
                  </a:lnTo>
                  <a:close/>
                </a:path>
              </a:pathLst>
            </a:custGeom>
            <a:solidFill>
              <a:srgbClr val="A9FF21"/>
            </a:solidFill>
            <a:ln w="19050" cap="sq">
              <a:solidFill>
                <a:srgbClr val="E4E2DD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76200"/>
              <a:ext cx="727906" cy="355149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 marL="0" indent="0" lvl="0">
                <a:lnSpc>
                  <a:spcPts val="3233"/>
                </a:lnSpc>
                <a:spcBef>
                  <a:spcPct val="0"/>
                </a:spcBef>
              </a:pPr>
              <a:r>
                <a:rPr lang="en-US" b="true" sz="2199" spc="323">
                  <a:solidFill>
                    <a:srgbClr val="2020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JULIEN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55826" y="7848213"/>
            <a:ext cx="5481745" cy="1235504"/>
            <a:chOff x="0" y="0"/>
            <a:chExt cx="1748630" cy="39411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748630" cy="394115"/>
            </a:xfrm>
            <a:custGeom>
              <a:avLst/>
              <a:gdLst/>
              <a:ahLst/>
              <a:cxnLst/>
              <a:rect r="r" b="b" t="t" l="l"/>
              <a:pathLst>
                <a:path h="394115" w="1748630">
                  <a:moveTo>
                    <a:pt x="0" y="0"/>
                  </a:moveTo>
                  <a:lnTo>
                    <a:pt x="1748630" y="0"/>
                  </a:lnTo>
                  <a:lnTo>
                    <a:pt x="1748630" y="394115"/>
                  </a:lnTo>
                  <a:lnTo>
                    <a:pt x="0" y="3941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E4E2DD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1748630" cy="460790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 marL="0" indent="0" lvl="0">
                <a:lnSpc>
                  <a:spcPts val="2646"/>
                </a:lnSpc>
                <a:spcBef>
                  <a:spcPct val="0"/>
                </a:spcBef>
              </a:pPr>
              <a:r>
                <a:rPr lang="en-US" b="true" sz="1800" spc="264">
                  <a:solidFill>
                    <a:srgbClr val="E4E2DD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S'EST CONCENTRÉ SUR LE FRONTEND MOBILE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6375262" y="2819760"/>
            <a:ext cx="10550440" cy="5646204"/>
          </a:xfrm>
          <a:custGeom>
            <a:avLst/>
            <a:gdLst/>
            <a:ahLst/>
            <a:cxnLst/>
            <a:rect r="r" b="b" t="t" l="l"/>
            <a:pathLst>
              <a:path h="5646204" w="10550440">
                <a:moveTo>
                  <a:pt x="0" y="0"/>
                </a:moveTo>
                <a:lnTo>
                  <a:pt x="10550439" y="0"/>
                </a:lnTo>
                <a:lnTo>
                  <a:pt x="10550439" y="5646205"/>
                </a:lnTo>
                <a:lnTo>
                  <a:pt x="0" y="56462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181100" y="532487"/>
            <a:ext cx="4535997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E4E2D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https://github.com/spalexandre13/SAE302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8513303"/>
            <a:ext cx="17743028" cy="17743028"/>
          </a:xfrm>
          <a:custGeom>
            <a:avLst/>
            <a:gdLst/>
            <a:ahLst/>
            <a:cxnLst/>
            <a:rect r="r" b="b" t="t" l="l"/>
            <a:pathLst>
              <a:path h="17743028" w="17743028">
                <a:moveTo>
                  <a:pt x="0" y="0"/>
                </a:moveTo>
                <a:lnTo>
                  <a:pt x="17743028" y="0"/>
                </a:lnTo>
                <a:lnTo>
                  <a:pt x="17743028" y="17743028"/>
                </a:lnTo>
                <a:lnTo>
                  <a:pt x="0" y="17743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191750" y="1028700"/>
            <a:ext cx="7067561" cy="9525"/>
          </a:xfrm>
          <a:prstGeom prst="line">
            <a:avLst/>
          </a:prstGeom>
          <a:ln cap="flat" w="19050">
            <a:solidFill>
              <a:srgbClr val="E4E2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-4034">
            <a:off x="1028706" y="9229725"/>
            <a:ext cx="16230611" cy="0"/>
          </a:xfrm>
          <a:prstGeom prst="line">
            <a:avLst/>
          </a:prstGeom>
          <a:ln cap="flat" w="19050">
            <a:solidFill>
              <a:srgbClr val="E4E2D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28689" y="9439275"/>
            <a:ext cx="383788" cy="575682"/>
            <a:chOff x="0" y="0"/>
            <a:chExt cx="511717" cy="76757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511717"/>
              <a:ext cx="255859" cy="255859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255859" cy="255859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255859"/>
              <a:ext cx="255859" cy="255859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55859" y="511717"/>
              <a:ext cx="255859" cy="255859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8423622" y="770484"/>
            <a:ext cx="1440757" cy="516432"/>
            <a:chOff x="0" y="0"/>
            <a:chExt cx="379459" cy="13601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9459" cy="136015"/>
            </a:xfrm>
            <a:custGeom>
              <a:avLst/>
              <a:gdLst/>
              <a:ahLst/>
              <a:cxnLst/>
              <a:rect r="r" b="b" t="t" l="l"/>
              <a:pathLst>
                <a:path h="136015" w="379459">
                  <a:moveTo>
                    <a:pt x="0" y="0"/>
                  </a:moveTo>
                  <a:lnTo>
                    <a:pt x="379459" y="0"/>
                  </a:lnTo>
                  <a:lnTo>
                    <a:pt x="379459" y="136015"/>
                  </a:lnTo>
                  <a:lnTo>
                    <a:pt x="0" y="1360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E4E2DD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379459" cy="155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0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 flipV="true">
            <a:off x="1028689" y="1028700"/>
            <a:ext cx="7394933" cy="28575"/>
          </a:xfrm>
          <a:prstGeom prst="line">
            <a:avLst/>
          </a:prstGeom>
          <a:ln cap="flat" w="19050">
            <a:solidFill>
              <a:srgbClr val="E4E2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6375262" y="1229548"/>
            <a:ext cx="5537476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E4E2DD"/>
                </a:solidFill>
                <a:latin typeface="Segment A Bold"/>
                <a:ea typeface="Segment A Bold"/>
                <a:cs typeface="Segment A Bold"/>
                <a:sym typeface="Segment A Bold"/>
              </a:rPr>
              <a:t>CHALLENGES TECHNIQUES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6089572" y="1859965"/>
            <a:ext cx="1281163" cy="659217"/>
          </a:xfrm>
          <a:custGeom>
            <a:avLst/>
            <a:gdLst/>
            <a:ahLst/>
            <a:cxnLst/>
            <a:rect r="r" b="b" t="t" l="l"/>
            <a:pathLst>
              <a:path h="659217" w="1281163">
                <a:moveTo>
                  <a:pt x="0" y="0"/>
                </a:moveTo>
                <a:lnTo>
                  <a:pt x="1281163" y="0"/>
                </a:lnTo>
                <a:lnTo>
                  <a:pt x="1281163" y="659217"/>
                </a:lnTo>
                <a:lnTo>
                  <a:pt x="0" y="6592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917325" y="1850440"/>
            <a:ext cx="1281163" cy="659217"/>
          </a:xfrm>
          <a:custGeom>
            <a:avLst/>
            <a:gdLst/>
            <a:ahLst/>
            <a:cxnLst/>
            <a:rect r="r" b="b" t="t" l="l"/>
            <a:pathLst>
              <a:path h="659217" w="1281163">
                <a:moveTo>
                  <a:pt x="0" y="0"/>
                </a:moveTo>
                <a:lnTo>
                  <a:pt x="1281163" y="0"/>
                </a:lnTo>
                <a:lnTo>
                  <a:pt x="1281163" y="659217"/>
                </a:lnTo>
                <a:lnTo>
                  <a:pt x="0" y="6592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272486" y="5327456"/>
            <a:ext cx="5459290" cy="2867843"/>
            <a:chOff x="0" y="0"/>
            <a:chExt cx="1315275" cy="69093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15275" cy="690933"/>
            </a:xfrm>
            <a:custGeom>
              <a:avLst/>
              <a:gdLst/>
              <a:ahLst/>
              <a:cxnLst/>
              <a:rect r="r" b="b" t="t" l="l"/>
              <a:pathLst>
                <a:path h="690933" w="1315275">
                  <a:moveTo>
                    <a:pt x="0" y="0"/>
                  </a:moveTo>
                  <a:lnTo>
                    <a:pt x="1315275" y="0"/>
                  </a:lnTo>
                  <a:lnTo>
                    <a:pt x="1315275" y="690933"/>
                  </a:lnTo>
                  <a:lnTo>
                    <a:pt x="0" y="6909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9FF21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315275" cy="757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556224" y="5327456"/>
            <a:ext cx="5459290" cy="2867843"/>
            <a:chOff x="0" y="0"/>
            <a:chExt cx="1315275" cy="69093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15275" cy="690933"/>
            </a:xfrm>
            <a:custGeom>
              <a:avLst/>
              <a:gdLst/>
              <a:ahLst/>
              <a:cxnLst/>
              <a:rect r="r" b="b" t="t" l="l"/>
              <a:pathLst>
                <a:path h="690933" w="1315275">
                  <a:moveTo>
                    <a:pt x="0" y="0"/>
                  </a:moveTo>
                  <a:lnTo>
                    <a:pt x="1315275" y="0"/>
                  </a:lnTo>
                  <a:lnTo>
                    <a:pt x="1315275" y="690933"/>
                  </a:lnTo>
                  <a:lnTo>
                    <a:pt x="0" y="6909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9FF21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315275" cy="757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414355" y="5327456"/>
            <a:ext cx="5459290" cy="2867843"/>
            <a:chOff x="0" y="0"/>
            <a:chExt cx="1315275" cy="69093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15275" cy="690933"/>
            </a:xfrm>
            <a:custGeom>
              <a:avLst/>
              <a:gdLst/>
              <a:ahLst/>
              <a:cxnLst/>
              <a:rect r="r" b="b" t="t" l="l"/>
              <a:pathLst>
                <a:path h="690933" w="1315275">
                  <a:moveTo>
                    <a:pt x="0" y="0"/>
                  </a:moveTo>
                  <a:lnTo>
                    <a:pt x="1315275" y="0"/>
                  </a:lnTo>
                  <a:lnTo>
                    <a:pt x="1315275" y="690933"/>
                  </a:lnTo>
                  <a:lnTo>
                    <a:pt x="0" y="6909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9FF21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1315275" cy="757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6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2441412" y="3817172"/>
            <a:ext cx="1121438" cy="1270039"/>
          </a:xfrm>
          <a:custGeom>
            <a:avLst/>
            <a:gdLst/>
            <a:ahLst/>
            <a:cxnLst/>
            <a:rect r="r" b="b" t="t" l="l"/>
            <a:pathLst>
              <a:path h="1270039" w="1121438">
                <a:moveTo>
                  <a:pt x="0" y="0"/>
                </a:moveTo>
                <a:lnTo>
                  <a:pt x="1121438" y="0"/>
                </a:lnTo>
                <a:lnTo>
                  <a:pt x="1121438" y="1270039"/>
                </a:lnTo>
                <a:lnTo>
                  <a:pt x="0" y="12700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8388541" y="4185381"/>
            <a:ext cx="1510894" cy="755447"/>
          </a:xfrm>
          <a:custGeom>
            <a:avLst/>
            <a:gdLst/>
            <a:ahLst/>
            <a:cxnLst/>
            <a:rect r="r" b="b" t="t" l="l"/>
            <a:pathLst>
              <a:path h="755447" w="1510894">
                <a:moveTo>
                  <a:pt x="0" y="0"/>
                </a:moveTo>
                <a:lnTo>
                  <a:pt x="1510894" y="0"/>
                </a:lnTo>
                <a:lnTo>
                  <a:pt x="1510894" y="755447"/>
                </a:lnTo>
                <a:lnTo>
                  <a:pt x="0" y="7554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4944556" y="3841552"/>
            <a:ext cx="1081626" cy="1245659"/>
          </a:xfrm>
          <a:custGeom>
            <a:avLst/>
            <a:gdLst/>
            <a:ahLst/>
            <a:cxnLst/>
            <a:rect r="r" b="b" t="t" l="l"/>
            <a:pathLst>
              <a:path h="1245659" w="1081626">
                <a:moveTo>
                  <a:pt x="0" y="0"/>
                </a:moveTo>
                <a:lnTo>
                  <a:pt x="1081626" y="0"/>
                </a:lnTo>
                <a:lnTo>
                  <a:pt x="1081626" y="1245659"/>
                </a:lnTo>
                <a:lnTo>
                  <a:pt x="0" y="124565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732561" y="5491177"/>
            <a:ext cx="4539140" cy="728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2"/>
              </a:lnSpc>
              <a:spcBef>
                <a:spcPct val="0"/>
              </a:spcBef>
            </a:pPr>
            <a:r>
              <a:rPr lang="en-US" b="true" sz="1967" spc="289">
                <a:solidFill>
                  <a:srgbClr val="E4E2D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MAÎT</a:t>
            </a:r>
            <a:r>
              <a:rPr lang="en-US" b="true" sz="1967" spc="289" strike="noStrike" u="none">
                <a:solidFill>
                  <a:srgbClr val="E4E2D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RISE DE L'ÉCOSYSTÈME JAVA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75323" y="6688203"/>
            <a:ext cx="4653616" cy="121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8"/>
              </a:lnSpc>
              <a:spcBef>
                <a:spcPct val="0"/>
              </a:spcBef>
            </a:pPr>
            <a:r>
              <a:rPr lang="en-US" sz="1749">
                <a:solidFill>
                  <a:srgbClr val="E4E2DD"/>
                </a:solidFill>
                <a:latin typeface="Poppins Light"/>
                <a:ea typeface="Poppins Light"/>
                <a:cs typeface="Poppins Light"/>
                <a:sym typeface="Poppins Light"/>
              </a:rPr>
              <a:t>La difficulté était d'appréhender l'ampleur des notions à connecter (Commandes système, SQL, POO) sans connaissances préalables.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016299" y="5491177"/>
            <a:ext cx="4539140" cy="363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2"/>
              </a:lnSpc>
              <a:spcBef>
                <a:spcPct val="0"/>
              </a:spcBef>
            </a:pPr>
            <a:r>
              <a:rPr lang="en-US" b="true" sz="1967" spc="289">
                <a:solidFill>
                  <a:srgbClr val="E4E2D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TRAITEMENT DES DONNÉES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959061" y="6688203"/>
            <a:ext cx="4653616" cy="909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8"/>
              </a:lnSpc>
              <a:spcBef>
                <a:spcPct val="0"/>
              </a:spcBef>
            </a:pPr>
            <a:r>
              <a:rPr lang="en-US" sz="1749">
                <a:solidFill>
                  <a:srgbClr val="E4E2DD"/>
                </a:solidFill>
                <a:latin typeface="Poppins Light"/>
                <a:ea typeface="Poppins Light"/>
                <a:cs typeface="Poppins Light"/>
                <a:sym typeface="Poppins Light"/>
              </a:rPr>
              <a:t>Les outils de sécurité (Nmap) génèrent des rapports en texte brut, impossibles à stocker proprement en base de données.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817192" y="5655532"/>
            <a:ext cx="4596378" cy="745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9"/>
              </a:lnSpc>
              <a:spcBef>
                <a:spcPct val="0"/>
              </a:spcBef>
            </a:pPr>
            <a:r>
              <a:rPr lang="en-US" b="true" sz="1992" spc="292">
                <a:solidFill>
                  <a:srgbClr val="E4E2D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INTERCONNEXION WEB / MOBILE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817192" y="6688203"/>
            <a:ext cx="4653616" cy="121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8"/>
              </a:lnSpc>
              <a:spcBef>
                <a:spcPct val="0"/>
              </a:spcBef>
            </a:pPr>
            <a:r>
              <a:rPr lang="en-US" sz="1749">
                <a:solidFill>
                  <a:srgbClr val="E4E2DD"/>
                </a:solidFill>
                <a:latin typeface="Poppins Light"/>
                <a:ea typeface="Poppins Light"/>
                <a:cs typeface="Poppins Light"/>
                <a:sym typeface="Poppins Light"/>
              </a:rPr>
              <a:t>Nous avions l'interface Web et le Mobile, mais aucune méthode claire pour synchroniser les données entre ces deux environnements différents.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81100" y="532487"/>
            <a:ext cx="4535997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E4E2D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https://github.com/spalexandre13/SAE302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2486" y="-10603835"/>
            <a:ext cx="17743028" cy="17743028"/>
          </a:xfrm>
          <a:custGeom>
            <a:avLst/>
            <a:gdLst/>
            <a:ahLst/>
            <a:cxnLst/>
            <a:rect r="r" b="b" t="t" l="l"/>
            <a:pathLst>
              <a:path h="17743028" w="17743028">
                <a:moveTo>
                  <a:pt x="0" y="0"/>
                </a:moveTo>
                <a:lnTo>
                  <a:pt x="17743028" y="0"/>
                </a:lnTo>
                <a:lnTo>
                  <a:pt x="17743028" y="17743027"/>
                </a:lnTo>
                <a:lnTo>
                  <a:pt x="0" y="177430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191750" y="1028700"/>
            <a:ext cx="7067561" cy="9525"/>
          </a:xfrm>
          <a:prstGeom prst="line">
            <a:avLst/>
          </a:prstGeom>
          <a:ln cap="flat" w="19050">
            <a:solidFill>
              <a:srgbClr val="E4E2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-4034">
            <a:off x="1028706" y="9229725"/>
            <a:ext cx="16230611" cy="0"/>
          </a:xfrm>
          <a:prstGeom prst="line">
            <a:avLst/>
          </a:prstGeom>
          <a:ln cap="flat" w="19050">
            <a:solidFill>
              <a:srgbClr val="E4E2D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28689" y="9439275"/>
            <a:ext cx="383788" cy="575682"/>
            <a:chOff x="0" y="0"/>
            <a:chExt cx="511717" cy="76757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511717"/>
              <a:ext cx="255859" cy="255859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255859" cy="255859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255859"/>
              <a:ext cx="255859" cy="255859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55859" y="511717"/>
              <a:ext cx="255859" cy="255859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E4E2DD"/>
                </a:solidFill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8423622" y="770484"/>
            <a:ext cx="1440757" cy="516432"/>
            <a:chOff x="0" y="0"/>
            <a:chExt cx="379459" cy="13601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9459" cy="136015"/>
            </a:xfrm>
            <a:custGeom>
              <a:avLst/>
              <a:gdLst/>
              <a:ahLst/>
              <a:cxnLst/>
              <a:rect r="r" b="b" t="t" l="l"/>
              <a:pathLst>
                <a:path h="136015" w="379459">
                  <a:moveTo>
                    <a:pt x="0" y="0"/>
                  </a:moveTo>
                  <a:lnTo>
                    <a:pt x="379459" y="0"/>
                  </a:lnTo>
                  <a:lnTo>
                    <a:pt x="379459" y="136015"/>
                  </a:lnTo>
                  <a:lnTo>
                    <a:pt x="0" y="1360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E4E2DD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379459" cy="155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0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 flipV="true">
            <a:off x="1028689" y="1028700"/>
            <a:ext cx="7394933" cy="28575"/>
          </a:xfrm>
          <a:prstGeom prst="line">
            <a:avLst/>
          </a:prstGeom>
          <a:ln cap="flat" w="19050">
            <a:solidFill>
              <a:srgbClr val="E4E2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6375262" y="1229548"/>
            <a:ext cx="5537476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E4E2DD"/>
                </a:solidFill>
                <a:latin typeface="Segment A Bold"/>
                <a:ea typeface="Segment A Bold"/>
                <a:cs typeface="Segment A Bold"/>
                <a:sym typeface="Segment A Bold"/>
              </a:rPr>
              <a:t>FIN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6089572" y="1859965"/>
            <a:ext cx="1281163" cy="659217"/>
          </a:xfrm>
          <a:custGeom>
            <a:avLst/>
            <a:gdLst/>
            <a:ahLst/>
            <a:cxnLst/>
            <a:rect r="r" b="b" t="t" l="l"/>
            <a:pathLst>
              <a:path h="659217" w="1281163">
                <a:moveTo>
                  <a:pt x="0" y="0"/>
                </a:moveTo>
                <a:lnTo>
                  <a:pt x="1281163" y="0"/>
                </a:lnTo>
                <a:lnTo>
                  <a:pt x="1281163" y="659217"/>
                </a:lnTo>
                <a:lnTo>
                  <a:pt x="0" y="6592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917325" y="1850440"/>
            <a:ext cx="1281163" cy="659217"/>
          </a:xfrm>
          <a:custGeom>
            <a:avLst/>
            <a:gdLst/>
            <a:ahLst/>
            <a:cxnLst/>
            <a:rect r="r" b="b" t="t" l="l"/>
            <a:pathLst>
              <a:path h="659217" w="1281163">
                <a:moveTo>
                  <a:pt x="0" y="0"/>
                </a:moveTo>
                <a:lnTo>
                  <a:pt x="1281163" y="0"/>
                </a:lnTo>
                <a:lnTo>
                  <a:pt x="1281163" y="659217"/>
                </a:lnTo>
                <a:lnTo>
                  <a:pt x="0" y="6592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3819982" y="2293172"/>
            <a:ext cx="10648037" cy="283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40"/>
              </a:lnSpc>
            </a:pPr>
            <a:r>
              <a:rPr lang="en-US" b="true" sz="16457">
                <a:solidFill>
                  <a:srgbClr val="E4E2DD"/>
                </a:solidFill>
                <a:latin typeface="Segment A Bold"/>
                <a:ea typeface="Segment A Bold"/>
                <a:cs typeface="Segment A Bold"/>
                <a:sym typeface="Segment A Bold"/>
              </a:rPr>
              <a:t>MERCI POUR VOTRE ATTENTION !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375262" y="6369255"/>
            <a:ext cx="5537476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E4E2DD"/>
                </a:solidFill>
                <a:latin typeface="Segment A Bold"/>
                <a:ea typeface="Segment A Bold"/>
                <a:cs typeface="Segment A Bold"/>
                <a:sym typeface="Segment A Bold"/>
              </a:rPr>
              <a:t>DEMO 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81100" y="532487"/>
            <a:ext cx="4535997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E4E2D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https://github.com/spalexandre13/SAE302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591951" y="561062"/>
            <a:ext cx="1819749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sz="1500">
                <a:solidFill>
                  <a:srgbClr val="E4E2D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Janvier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DAG9RYkO22w</dc:identifier>
  <dcterms:modified xsi:type="dcterms:W3CDTF">2011-08-01T06:04:30Z</dcterms:modified>
  <cp:revision>1</cp:revision>
  <dc:title>https://github.com/spalexandre13/SAE302</dc:title>
</cp:coreProperties>
</file>